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c16c0f4-b5de-bf04-24e5-a299de738a8d}">
          <p14:sldIdLst>
            <p14:sldId id="256"/>
            <p14:sldId id="257"/>
            <p14:sldId id="258"/>
          </p14:sldIdLst>
        </p14:section>
        <p14:section name="Literature review" id="{a9093de5-dc9c-5ccc-5c43-5789b0d38905}">
          <p14:sldIdLst>
            <p14:sldId id="259"/>
            <p14:sldId id="260"/>
            <p14:sldId id="261"/>
            <p14:sldId id="262"/>
          </p14:sldIdLst>
        </p14:section>
        <p14:section name="Methodology" id="{f0447eaa-e8c1-256d-85c9-4c13e06f93e9}">
          <p14:sldIdLst>
            <p14:sldId id="263"/>
            <p14:sldId id="264"/>
            <p14:sldId id="265"/>
            <p14:sldId id="266"/>
          </p14:sldIdLst>
        </p14:section>
        <p14:section name="Experimental design" id="{53541199-0768-6331-8c5a-d375297f92fe}">
          <p14:sldIdLst>
            <p14:sldId id="267"/>
            <p14:sldId id="268"/>
          </p14:sldIdLst>
        </p14:section>
        <p14:section name="Results" id="{0cfa14d5-f7e9-bec4-8583-db3bc479b778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Limitations and conclusion" id="{866fa31b-9b81-744f-c395-01f1f70d1982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B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2B33"/>
                </a:solidFill>
                <a:latin typeface="Calibri"/>
              </a:rPr>
              <a:t>Pooled LOSO macro-F1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Pooled macro-F1 (30 folds)</c:v>
                </c:pt>
              </c:strCache>
            </c:strRef>
          </c:tx>
          <c:spPr>
            <a:solidFill>
              <a:srgbClr val="14746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D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BiGRU</c:v>
                  </c:pt>
                  <c:pt idx="1">
                    <c:v>BiLSTM+Attn</c:v>
                  </c:pt>
                  <c:pt idx="2">
                    <c:v>CNN+BiGRU</c:v>
                  </c:pt>
                  <c:pt idx="3">
                    <c:v>DeepConvLSTM</c:v>
                  </c:pt>
                  <c:pt idx="4">
                    <c:v>SG-DA-BiGRU</c:v>
                  </c:pt>
                  <c:pt idx="5">
                    <c:v>DA-BiGRU</c:v>
                  </c:pt>
                  <c:pt idx="6">
                    <c:v>Channel-only</c:v>
                  </c:pt>
                  <c:pt idx="7">
                    <c:v>Temporal-only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0.816</c:v>
                </c:pt>
                <c:pt idx="1">
                  <c:v>0.819</c:v>
                </c:pt>
                <c:pt idx="2">
                  <c:v>0.832</c:v>
                </c:pt>
                <c:pt idx="3">
                  <c:v>0.832</c:v>
                </c:pt>
                <c:pt idx="4">
                  <c:v>0.815</c:v>
                </c:pt>
                <c:pt idx="5">
                  <c:v>0.815</c:v>
                </c:pt>
                <c:pt idx="6">
                  <c:v>0.813</c:v>
                </c:pt>
                <c:pt idx="7">
                  <c:v>0.813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D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6"/>
          <c:min val="0.75"/>
        </c:scaling>
        <c:delete val="0"/>
        <c:axPos val="l"/>
        <c:majorGridlines>
          <c:spPr>
            <a:ln w="6350" cap="flat">
              <a:solidFill>
                <a:srgbClr val="E1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set out to build a dual-attention BiGRU and ended up with a rigorous study of whether attention helps at all under subject-independent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6583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Attention Help Recurrent Models for Wearable Human Activity Recognition?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subject-independent ablation with a pre-specified decision rule on three benchmarks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 Munjal  |  Project review presentation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of this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B2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70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literature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170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HAR, what exists, where the gap 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502920" cy="5029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836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883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SG-DA-BiGRU, layers, spectral gate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502920" cy="502920"/>
          </a:xfrm>
          <a:prstGeom prst="ellipse">
            <a:avLst/>
          </a:prstGeom>
          <a:solidFill>
            <a:srgbClr val="0B2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5968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5968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models, 3 datasets, LOSO, 1,320 runs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10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analysis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3101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gate help? What dominates?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502920" cy="502920"/>
          </a:xfrm>
          <a:prstGeom prst="ellipse">
            <a:avLst/>
          </a:prstGeom>
          <a:solidFill>
            <a:srgbClr val="0B2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takeaways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validity, recommendations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HAR, and why evaluation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activity from wearable IMU windows (accelerometer, gyroscope)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health monitoring, rehabilitation, sports, context-aware apps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models: CNN, RNN, CNN+RNN, now attention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D5ECE9"/>
          </a:solidFill>
          <a:ln w="12700">
            <a:solidFill>
              <a:srgbClr val="D5E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report 96-99% accuracy for dual-attention models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leak the same person into train and test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training run, no significance test, no cost reporting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may be noise or leakage, not architecture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review: the foundation papers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182880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 +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BiLSTM-Attn (UCI-HAR, WISDM, KU-HAR)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similar activities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cross-subject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+ hierarchical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Nurse-activity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imbalance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~66% cross-subject; private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Attn-GRU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CSI: 252M to 0.058M 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~98.9% accuracy, tiny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signals, not IMU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+ dual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+ temporal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vs. when to look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UCI/WISDM/PAMAP2, no ablation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accel + gyro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CNN+LSTM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data-efficiency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(Bi)LSTM +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H-Activity, MHEALTH, UCI-HAR, noisy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baselines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 own data vs 93% UCI: overfit?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strongest results are CNN+RNN hybrids; pure RNN+attention papers are few, single-dataset and rarely cross-dataset.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Closest recent work (2025-2026)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182880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/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Dual-INABA (Sci. Rep.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 + Attn + BiGRU + Attn, wavelet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PAMAP2, UCI-HAR, WISDM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98.15 / 98.89 / 96.78%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TGA-HAR (Sensors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TCN + BiGRU +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WISDM, USC-HAD, PAMAP2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across sensor setups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MHAT-Net (2026)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BiGRU + 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inertial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 activities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CNN-BiGRU-Transformer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Multi-branch CNN + BiGRU + 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Wearable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dependencies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AttnFusionGRU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Dual-branch attn + SqueezeNet + 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UCF101, Human3.6M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Vision-based, not IMU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transfer (CORAL, self-supervised, data mixtures) is also mature, so naive fine-tuning is no longer novel.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work differs from existing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21792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prior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14300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attention uses learned time-domain statistics only. We inject a non-learned spectral gate (33 params).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4708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CNN-free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847088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Dual-INABA, TGA-HAR add Inception/TCN. Ours is pure BiGRU + attention, so the gate is isolated.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51176"/>
            <a:ext cx="8229600" cy="621792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5117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Rigorous protocol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551176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single split, accuracy only. Ours: 30 LOSO folds, 5 seeds, Wilcoxon + Holm, Bayesian ROPE.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5526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reporting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255264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omit it. We report params, FLOPs and measured latency.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8229600" cy="621792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593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Pre-specified rule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959352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criterion fixed before final runs; the outcome is reported either 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and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attention, including a new frequency-informed variant, improve a BiGRU for wearable HAR on unseen subjects?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SG-DA-BiGRU: spectral-gated dual-attention BiGRU (33-parameter gate, one FFT per window)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ablation: 8 models, 1 shared pipeline, 3 benchmarks, 1,320 runs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decision rule and its outcome: gate gives no gain, evidence of equivalence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evaluation itself: subject variance, fixed-split rank instability, checkpoint selection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recommendations and released code/results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model: SG-DA-BiGRU</a:t>
            </a:r>
            <a:endParaRPr lang="en-US" sz="2800" dirty="0"/>
          </a:p>
        </p:txBody>
      </p:sp>
      <p:pic>
        <p:nvPicPr>
          <p:cNvPr id="3" name="Image 0" descr="/Users/chandanmunjal/Desktop/Projects/dual-attention-bigru-har/paper/figures/fig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833" y="1051560"/>
            <a:ext cx="3240894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389120" y="11887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window of T steps x C channels, z-scored with training-subject statistics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 (CBAM-style) from mean/max pooling and a shared MLP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gate from FFT descriptors multiplies the channel weights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Reweighted input goes through a 2-layer BiGRU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temporal attention pools the states; FC head predicts K classes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layers, step by step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466344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x C, per-channel z-score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x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+ max pool, MLP C &gt; floor(C/4) &gt; C, sigmoid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gates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rFFT descriptors (rho, H), MLP 2 &gt; 8 &gt; 1, tanh, sigmoid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gates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Reweighting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a*g / mean(a*g), x~ = w *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x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 x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units per direction, dropout 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x 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additive (Bahdanau), 64-d, softmax over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128, ReLU, dropout 0.3, FC K, softmax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127.8k parameters on UCI-HAR (plain BiGRU: 119.4k). Sigmoid gates, not softmax, so several channels can matter at once.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spectral gate</a:t>
            </a:r>
            <a:endParaRPr lang="en-US" sz="2800" dirty="0"/>
          </a:p>
        </p:txBody>
      </p:sp>
      <p:pic>
        <p:nvPicPr>
          <p:cNvPr id="3" name="Image 0" descr="/Users/chandanmunjal/Desktop/Projects/dual-attention-bigru-har/paper/figures/fig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68852"/>
            <a:ext cx="3566160" cy="36230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18872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channel c, from power spectrum P(f):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 energy ratio: share of power in 0.3-3.5 Hz (gait, limb swing)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spectral entropy: low for clean periodic signals, high for noise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shared MLP (2 &gt; 8 &gt; 1, 33 params) maps them to a gate in (0,1)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bias: a time-domain MLP cannot easily measure periodicity from one window; the FFT gives it directly.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models, one pipeline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188720"/>
                <a:gridCol w="1280160"/>
                <a:gridCol w="137160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attn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attn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SG-DA-BiGRU (proposed)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DA-BiGRU (plain)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 + Attn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x Conv1D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DeepConvLSTM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x 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vs. plain isolates the gate. All but DeepConvLSTM share size, depth, dropout and head; no per-model tuning.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and subject-independent protocol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097280"/>
                <a:gridCol w="1188720"/>
                <a:gridCol w="1005840"/>
                <a:gridCol w="137160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 folds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UCI-HAR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WISDM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42,657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PAMAP2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/Users/chandanmunjal/Desktop/Projects/dual-attention-bigru-har/paper/figures/fig_proto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63740"/>
            <a:ext cx="5120640" cy="198771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60720" y="27432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subjects never touch training or selection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train subjects (min 2) for validation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on val macro-F1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 per fold, averaged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 and the pre-specified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47472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1e-3, batch 64, cross-entropy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epochs, grad clip 1.0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ReduceLROnPlateau, early stop (patience 8)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 val macro-F1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3050 laptop GPU: 27.6 GPU-hours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474720"/>
          </a:xfrm>
          <a:prstGeom prst="rect">
            <a:avLst/>
          </a:prstGeom>
          <a:solidFill>
            <a:srgbClr val="0B2B33"/>
          </a:solidFill>
          <a:ln w="12700">
            <a:solidFill>
              <a:srgbClr val="0B2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rule (fixed 2026-10-16)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pooled LOSO macro-F1 over 30 folds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signed-rank, Holm-corrected over 7 comparisons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paper only if full beats plain (p Holm &lt; 0.05) and is not significantly worse than any baseline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an empirical study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LOSO macro-F1 across models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143000"/>
            <a:ext cx="246888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234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0.75-0.92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per dataset: PAMAP2 0.75, WISDM 0.84, UCI-HAR 0.92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2468880"/>
            <a:ext cx="246888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CNN+BiGRU and DeepConvLSTM lead (pooled)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3794760"/>
            <a:ext cx="246888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0.813-0.819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attention variants and plain BiGRU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endpoint: does the spectral gate help?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+0.0008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macro-F1, full vs. plain (CI -0.005 to +0.007)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65176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0.78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Wilcoxon; Holm p = 1.0; wins 17/30 folds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265176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prob. of practical equivalence (|d| &lt; 0.01)</a:t>
            </a:r>
            <a:endParaRPr lang="en-US" sz="1200" dirty="0"/>
          </a:p>
        </p:txBody>
      </p:sp>
      <p:pic>
        <p:nvPicPr>
          <p:cNvPr id="12" name="Image 0" descr="/Users/chandanmunjal/Desktop/Projects/dual-attention-bigru-har/paper/figures/fig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260687"/>
            <a:ext cx="5394960" cy="241638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383280" y="39319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 condition (i) fails: this is an empirical study, not a method paper. CNN+BiGRU beats the proposed model by 0.016 (Holm p = 0.065).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 dominate, architectures barely matter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94-96%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fold-score variance explained by which subjects are held 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65176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0.4-1.5%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the choice among 8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265176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0.16-0.97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WISDM per-subject macro-F1 for one model</a:t>
            </a:r>
            <a:endParaRPr lang="en-US" sz="1200" dirty="0"/>
          </a:p>
        </p:txBody>
      </p:sp>
      <p:pic>
        <p:nvPicPr>
          <p:cNvPr id="12" name="Image 0" descr="/Users/chandanmunjal/Desktop/Projects/dual-attention-bigru-har/paper/figures/fig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606941"/>
            <a:ext cx="5303520" cy="227251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383280" y="4343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split with one seed cannot separate these models.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Fixed-split rankings mislead</a:t>
            </a:r>
            <a:endParaRPr lang="en-US" sz="2800" dirty="0"/>
          </a:p>
        </p:txBody>
      </p:sp>
      <p:pic>
        <p:nvPicPr>
          <p:cNvPr id="3" name="Image 0" descr="/Users/chandanmunjal/Desktop/Projects/dual-attention-bigru-har/paper/figures/fig_rank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3455"/>
            <a:ext cx="5303520" cy="24109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Kendall tau between fixed-split and LOSO rankings: -0.14 to 0.43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on a single split are poor proxies for subject-independent ones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v1 selected on val loss: 43.5% of runs picked epoch &lt;= 3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select on val macro-F1; median best epoch 4 &gt; 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cost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05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MFLOPs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b32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46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BiLSTM+Attn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DeepConvLSTM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SG-DA-BiGRU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DA-BiGRU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UCI-HAR inputs, RTX 3050 laptop GPU. FLOPs exclude the FFT.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852160" y="1143000"/>
            <a:ext cx="283464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params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adds almost nothing in size or FLOPs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2468880"/>
            <a:ext cx="283464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2.6x slower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 with the gate (4.2 vs 1.6 ms) and no accuracy gain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3794760"/>
            <a:ext cx="2834640" cy="114300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18.7M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CNN+BiGRU: fewest FLOPs, best accuracy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gate fails and convolutions help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47472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gate does not help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 only separate static from dynamic activities, which every model already gets right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errors (up vs. down stairs, sit vs. stand) need fine temporal structure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BiGRU with z-scored inputs can already re-weight channels itself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474720"/>
          </a:xfrm>
          <a:prstGeom prst="rect">
            <a:avLst/>
          </a:prstGeom>
          <a:solidFill>
            <a:srgbClr val="D5ECE9"/>
          </a:solidFill>
          <a:ln w="12700">
            <a:solidFill>
              <a:srgbClr val="D5E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CNN front-ends help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learned temporal filters separate hard class pairs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WISDM: upstairs +5.3, downstairs +3.7 points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PAMAP2 (DeepConvLSTM): walking +10.2, ironing +7.9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shortens the sequence the BiGRU must integrate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threats to validity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0972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Hyper-parameters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config; no per-model or nested tuning under LOSO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10972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727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benchmarks, 6-18 channels, 2.56 s windows; attention may matter with more sensors or longer windows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023360" cy="10972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power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61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PAMAP2 has only 8 subjects; per-dataset tests are descriptive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4023360" cy="10972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revision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61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once before the final run, identically for all models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definition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50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over true and predicted classes lowers PAMAP2 scores for all models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4023360" cy="10972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50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on one laptop GPU and CPU; FFT cost may differ on embedded devices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HAR 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unseen subjects; select checkpoints on subject-wise validation macro-F1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57200" cy="457200"/>
          </a:xfrm>
          <a:prstGeom prst="ellipse">
            <a:avLst/>
          </a:prstGeom>
          <a:solidFill>
            <a:srgbClr val="0B2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188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enough folds; average seeds within folds; pool across datasets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77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against the identical model without the component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457200" cy="457200"/>
          </a:xfrm>
          <a:prstGeom prst="ellipse">
            <a:avLst/>
          </a:prstGeom>
          <a:solidFill>
            <a:srgbClr val="0B2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377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equivalence-aware statistics (Bayesian ROPE or CIs)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566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decision rule before the final run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611880"/>
            <a:ext cx="457200" cy="457200"/>
          </a:xfrm>
          <a:prstGeom prst="ellipse">
            <a:avLst/>
          </a:prstGeom>
          <a:solidFill>
            <a:srgbClr val="0B2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566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measured latency, not only FLOPs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spectral gate is practically equivalent to no gate (+0.0008 macro-F1)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attention variant beats a plain BiGRU under subject-independent evaluation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CNN+BiGRU is the best practical choice: highest accuracy, fewest FLOPs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not architectures, drive the variance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tuning under nested LOSO, more sensors and longer windows, embedded latency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 Review">
  <a:themeElements>
    <a:clrScheme name="HAR Review">
      <a:dk1>
        <a:srgbClr val="1F2D30"/>
      </a:dk1>
      <a:lt1>
        <a:srgbClr val="FFFFFF"/>
      </a:lt1>
      <a:dk2>
        <a:srgbClr val="0B2B33"/>
      </a:dk2>
      <a:lt2>
        <a:srgbClr val="F4F7F7"/>
      </a:lt2>
      <a:accent1>
        <a:srgbClr val="14746F"/>
      </a:accent1>
      <a:accent2>
        <a:srgbClr val="F2A541"/>
      </a:accent2>
      <a:accent3>
        <a:srgbClr val="6FB7B0"/>
      </a:accent3>
      <a:accent4>
        <a:srgbClr val="C0392B"/>
      </a:accent4>
      <a:accent5>
        <a:srgbClr val="5E7377"/>
      </a:accent5>
      <a:accent6>
        <a:srgbClr val="3C8DAD"/>
      </a:accent6>
      <a:hlink>
        <a:srgbClr val="14746F"/>
      </a:hlink>
      <a:folHlink>
        <a:srgbClr val="5E7377"/>
      </a:folHlink>
    </a:clrScheme>
    <a:fontScheme name="HAR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Attention Help Recurrent Models for Wearable HAR?</dc:title>
  <dc:subject>PptxGenJS Presentation</dc:subject>
  <dc:creator>Himansh Munjal</dc:creator>
  <cp:lastModifiedBy>Himansh Munjal</cp:lastModifiedBy>
  <cp:revision>1</cp:revision>
  <dcterms:created xsi:type="dcterms:W3CDTF">2026-10-21T05:32:42Z</dcterms:created>
  <dcterms:modified xsi:type="dcterms:W3CDTF">2026-10-21T05:32:42Z</dcterms:modified>
</cp:coreProperties>
</file>